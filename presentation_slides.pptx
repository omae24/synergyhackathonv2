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b="1" sz="4000">
                <a:solidFill>
                  <a:srgbClr val="0F172A"/>
                </a:solidFill>
                <a:latin typeface="Arial"/>
              </a:defRPr>
            </a:pPr>
            <a:r>
              <a:t>KPC Inuka Foundation</a:t>
            </a:r>
            <a:br/>
            <a:r>
              <a:t>Compliance &amp; Auditing Portal</a:t>
            </a:r>
          </a:p>
          <a:p>
            <a:pPr algn="l">
              <a:defRPr sz="1800">
                <a:solidFill>
                  <a:srgbClr val="3B82F6"/>
                </a:solidFill>
                <a:latin typeface="Arial"/>
              </a:defRPr>
            </a:pPr>
            <a:r>
              <a:t>Securing Beneficiary Data Rights (KDPA) &amp; Stipend Disbursement Integrity</a:t>
            </a:r>
          </a:p>
          <a:p>
            <a:pPr>
              <a:defRPr sz="1200">
                <a:solidFill>
                  <a:srgbClr val="334155"/>
                </a:solidFill>
                <a:latin typeface="Arial"/>
              </a:defRPr>
            </a:pPr>
            <a:r>
              <a:t>Presented by: Synergy Hackathon Data Governance Team</a:t>
            </a:r>
            <a:br/>
            <a:r>
              <a:t>Scale: 1,000 Beneficiaries | 8 Regions | 4 Pillars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Arial"/>
              </a:defRPr>
            </a:pPr>
            <a:r>
              <a:t>Slide 2: The Core Compliance Challenges</a:t>
            </a:r>
          </a:p>
          <a:p>
            <a:pPr>
              <a:defRPr sz="1400">
                <a:solidFill>
                  <a:srgbClr val="3B82F6"/>
                </a:solidFill>
                <a:latin typeface="Arial"/>
              </a:defRPr>
            </a:pPr>
            <a:r>
              <a:t>Balancing Digitization with Privacy &amp; Donor Audits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1. PII Exposure Risk: Sharing contact details (Names, National IDs, phones, emails) in raw files violates core KDPA data minimization principles.</a:t>
            </a:r>
          </a:p>
          <a:p>
            <a:pPr>
              <a:spcAft>
                <a:spcPts val="14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2. Ingestion Quality Control: Missing fields, wrong formats, or out-of-bounds regions in field data leads to corrupted database entries.</a:t>
            </a:r>
          </a:p>
          <a:p>
            <a:pPr>
              <a:spcAft>
                <a:spcPts val="14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3. Stipend Payout Leakage: Manual reconciliation of monthly stipends (KES 5,000/month) against attendance logs is slow and prone to over-payments.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Arial"/>
              </a:defRPr>
            </a:pPr>
            <a:r>
              <a:t>Slide 3: Event-Driven Quality Gates</a:t>
            </a:r>
          </a:p>
          <a:p>
            <a:pPr>
              <a:defRPr sz="1400">
                <a:solidFill>
                  <a:srgbClr val="3B82F6"/>
                </a:solidFill>
                <a:latin typeface="Arial"/>
              </a:defRPr>
            </a:pPr>
            <a:r>
              <a:t>Automated Validation with Great Expectations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Real-time API Gateway: Cleanses raw inputs (phone numbers to E.164, Title Case naming) on the fly during registration.</a:t>
            </a:r>
          </a:p>
          <a:p>
            <a:pPr>
              <a:spcAft>
                <a:spcPts val="14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Great Expectations Rules: Validates inputs in-memory against 9 strict schema rules (email formats, official regions, and pillars).</a:t>
            </a:r>
          </a:p>
          <a:p>
            <a:pPr>
              <a:spcAft>
                <a:spcPts val="14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Zero-Pollution Quarantine: Successful entries write to the active directory, while faulty registrations route to a quarantine ledger for review.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Arial"/>
              </a:defRPr>
            </a:pPr>
            <a:r>
              <a:t>Slide 4: RLS, CLS, &amp; ML Security</a:t>
            </a:r>
          </a:p>
          <a:p>
            <a:pPr>
              <a:defRPr sz="1400">
                <a:solidFill>
                  <a:srgbClr val="3B82F6"/>
                </a:solidFill>
                <a:latin typeface="Arial"/>
              </a:defRPr>
            </a:pPr>
            <a:r>
              <a:t>Zero-Trust Privacy Gateway &amp; Isolation Forest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Row-Level Security (RLS): Enforces query boundaries. Regional Field Officers are strictly bound to their depots; coordinators to their pillars.</a:t>
            </a:r>
          </a:p>
          <a:p>
            <a:pPr>
              <a:spcAft>
                <a:spcPts val="14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Column-Level Security (CLS): Server-side PII dynamic masking (e.g. J*. Oum***, *****805) for compliance auditors and general directory lists.</a:t>
            </a:r>
          </a:p>
          <a:p>
            <a:pPr>
              <a:spcAft>
                <a:spcPts val="14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ML Anomaly Scoring: An Isolation Forest model monitors access queries, auto-masking all datasets and raising alarms for off-hour or high-volume actions.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Arial"/>
              </a:defRPr>
            </a:pPr>
            <a:r>
              <a:t>Slide 5: Automated Financial Reconciliation</a:t>
            </a:r>
          </a:p>
          <a:p>
            <a:pPr>
              <a:defRPr sz="1400">
                <a:solidFill>
                  <a:srgbClr val="3B82F6"/>
                </a:solidFill>
                <a:latin typeface="Arial"/>
              </a:defRPr>
            </a:pPr>
            <a:r>
              <a:t>Restoring Funding Integrity (Stipend vs. Attendance Audits)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Stipend Policy Enforcement: Verifies minimum 75% attendance rate and active data consent before authorizing stipend payouts.</a:t>
            </a:r>
          </a:p>
          <a:p>
            <a:pPr>
              <a:spcAft>
                <a:spcPts val="14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Reconciliation Auditing: Compares actual disbursements against expected amounts based on attendance sheets in SQLite.</a:t>
            </a:r>
          </a:p>
          <a:p>
            <a:pPr>
              <a:spcAft>
                <a:spcPts val="14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1-Click Correction: Flags over-payment discrepancies and offers a single-click button to recall payouts and suspend active enrollments.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Arial"/>
              </a:defRPr>
            </a:pPr>
            <a:r>
              <a:t>Slide 6: Quantified Operational ROI</a:t>
            </a:r>
          </a:p>
          <a:p>
            <a:pPr>
              <a:defRPr sz="1400">
                <a:solidFill>
                  <a:srgbClr val="3B82F6"/>
                </a:solidFill>
                <a:latin typeface="Arial"/>
              </a:defRPr>
            </a:pPr>
            <a:r>
              <a:t>Strategic Operational &amp; Financial Benefits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Compliance Time Saved: Saves 24 hours/week of manual logging and 10 hours/week of data cleansing.</a:t>
            </a:r>
          </a:p>
          <a:p>
            <a:pPr>
              <a:spcAft>
                <a:spcPts val="14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Audit Speed: Reduces monthly stipend reconciliation from 15 hours to less than 1 minute using the portal auditing widget.</a:t>
            </a:r>
          </a:p>
          <a:p>
            <a:pPr>
              <a:spcAft>
                <a:spcPts val="14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Direct Payout Recovery: Flags 8 over-payment anomalies, saving KES 40,000.00/month (projected KES 480,000.00/year).</a:t>
            </a:r>
          </a:p>
          <a:p>
            <a:pPr>
              <a:spcAft>
                <a:spcPts val="14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Fine Avoidance: Dynamic masking and erasure SLA compliance avoids KDPA statutory penalties of up to KES 5M.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