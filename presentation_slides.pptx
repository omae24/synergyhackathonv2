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000">
                <a:solidFill>
                  <a:srgbClr val="0F172A"/>
                </a:solidFill>
                <a:latin typeface="Arial"/>
              </a:defRPr>
            </a:pPr>
            <a:r>
              <a:t>KPC Inuka Foundation</a:t>
            </a:r>
            <a:br/>
            <a:r>
              <a:t>Compliance &amp; Auditing Portal</a:t>
            </a:r>
          </a:p>
          <a:p>
            <a:pPr algn="l">
              <a:defRPr sz="1800">
                <a:solidFill>
                  <a:srgbClr val="3B82F6"/>
                </a:solidFill>
                <a:latin typeface="Arial"/>
              </a:defRPr>
            </a:pPr>
            <a:r>
              <a:t>Securing Beneficiary Data Rights (KDPA) &amp; Compliance Operations</a:t>
            </a:r>
          </a:p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Presented by: Synergy Hackathon Data Governance Team</a:t>
            </a:r>
            <a:br/>
            <a:r>
              <a:t>Scale: 1,000 Beneficiaries | 8 Regions | 4 Pillars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Arial"/>
              </a:defRPr>
            </a:pPr>
            <a:r>
              <a:t>Slide 2: The Core Compliance Challenges</a:t>
            </a:r>
          </a:p>
          <a:p>
            <a:pPr>
              <a:defRPr sz="1400">
                <a:solidFill>
                  <a:srgbClr val="3B82F6"/>
                </a:solidFill>
                <a:latin typeface="Arial"/>
              </a:defRPr>
            </a:pPr>
            <a:r>
              <a:t>Digitizing Beneficiary Records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1. PII Exposure Risk: Sharing contact details (Names, National IDs, phones, emails) in raw files with coordinators and donors violates data minimization laws.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2. Ingestion Quality Control: Registrations submitted from the field often contain syntax errors, missing signatures, or wrong formats.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3. Rights Execution Latency: Manually processing beneficiary requests to verify, withdraw, or delete profiles ('Right to be Forgotten' under Section 40) takes up to 14 business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Arial"/>
              </a:defRPr>
            </a:pPr>
            <a:r>
              <a:t>Slide 3: Event-Driven Quality Gates</a:t>
            </a:r>
          </a:p>
          <a:p>
            <a:pPr>
              <a:defRPr sz="1400">
                <a:solidFill>
                  <a:srgbClr val="3B82F6"/>
                </a:solidFill>
                <a:latin typeface="Arial"/>
              </a:defRPr>
            </a:pPr>
            <a:r>
              <a:t>Automated Validation with Great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Real-time API Gateway: Cleanses raw inputs (phone numbers to E.164, Title Case naming) on the fly during registration.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Great Expectations Rules: Validates inputs in-memory against 9 strict schema rules (email formats, official regions, and pillars).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Zero-Pollution Quarantine: Successful entries write to the active directory, while faulty registrations route to a quarantine ledger for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Arial"/>
              </a:defRPr>
            </a:pPr>
            <a:r>
              <a:t>Slide 4: RLS, CLS, &amp; ML Security</a:t>
            </a:r>
          </a:p>
          <a:p>
            <a:pPr>
              <a:defRPr sz="1400">
                <a:solidFill>
                  <a:srgbClr val="3B82F6"/>
                </a:solidFill>
                <a:latin typeface="Arial"/>
              </a:defRPr>
            </a:pPr>
            <a:r>
              <a:t>Zero-Trust Privacy Gateway &amp; Isolation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Row-Level Security (RLS): Enforces query boundaries. Regional Field Officers are strictly bound to their depots; coordinators to their pillars.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Column-Level Security (CLS): Server-side PII dynamic masking (e.g. J*. Oum***, *****805) for compliance auditors and general directory lists.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ML Anomaly Scoring: An Isolation Forest model monitors access queries, auto-masking all datasets and raising alarms for off-hour or high-volume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Arial"/>
              </a:defRPr>
            </a:pPr>
            <a:r>
              <a:t>Slide 5: Chatbot Rights Engine &amp; Exporter</a:t>
            </a:r>
          </a:p>
          <a:p>
            <a:pPr>
              <a:defRPr sz="1400">
                <a:solidFill>
                  <a:srgbClr val="3B82F6"/>
                </a:solidFill>
                <a:latin typeface="Arial"/>
              </a:defRPr>
            </a:pPr>
            <a:r>
              <a:t>Automated Consent Control &amp; Audits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Bilingual Rights Agent: Handles data requests in Swahili and English. Allows fellows to check profile details, update consent purposes, or execute data purges.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External Compliant Export: A prominent Export Compliant Donor Report (CSV) button allows compliance auditors to instantly download masked, donor-safe datasets for external audits.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Direct Self-Service: Beneficiaries log in directly to adjust permissions for Stipends, Photos, SMS, or Audits.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Arial"/>
              </a:defRPr>
            </a:pPr>
            <a:r>
              <a:t>Slide 6: Quantified Operational ROI</a:t>
            </a:r>
          </a:p>
          <a:p>
            <a:pPr>
              <a:defRPr sz="1400">
                <a:solidFill>
                  <a:srgbClr val="3B82F6"/>
                </a:solidFill>
                <a:latin typeface="Arial"/>
              </a:defRPr>
            </a:pPr>
            <a:r>
              <a:t>Strategic Operational &amp; Compliance Benefits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Compliance Time Saved: Saves 24 hours/week of manual logging and 10 hours/week of data cleansing.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Rights SLA Compliance: Reduces profile erasure ('Right to be Forgotten') cycle times from 14 business days to less than 1 second.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Zero-Pollution Boundary: Quarantines registrations containing bad formats before they write to active directory.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Fine Avoidance: Dynamic masking and erasure SLA compliance avoids KDPA statutory penalties of up to KES 5M.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